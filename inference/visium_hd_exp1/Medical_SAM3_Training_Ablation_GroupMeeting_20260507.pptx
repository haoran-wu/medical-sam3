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3B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82880"/>
            <a:ext cx="7040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"/>
              </a:defRPr>
            </a:pPr>
            <a:r>
              <a:t>Future Directions: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658368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2E8F0"/>
                </a:solidFill>
                <a:latin typeface="Aptos"/>
              </a:defRPr>
            </a:pPr>
            <a:r>
              <a:t>Five Ways to Intervene in the SAM3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4448" y="10789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21F31"/>
                </a:solidFill>
                <a:latin typeface="Aptos"/>
              </a:defRPr>
            </a:pPr>
            <a:r>
              <a:t>SAM3 Architecture - Where Each Future Direction Intervenes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3154680"/>
            <a:ext cx="1874519" cy="786384"/>
          </a:xfrm>
          <a:prstGeom prst="roundRect">
            <a:avLst/>
          </a:prstGeom>
          <a:solidFill>
            <a:srgbClr val="E5E7E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64748B"/>
                </a:solidFill>
                <a:latin typeface="Aptos"/>
              </a:defRPr>
            </a:pPr>
            <a:r>
              <a:t>H&amp;E Image</a:t>
            </a:r>
            <a:br/>
            <a:r>
              <a:t>(tile 1024px)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154680"/>
            <a:ext cx="2194560" cy="786384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E4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300" b="1">
                <a:solidFill>
                  <a:srgbClr val="1E4078"/>
                </a:solidFill>
                <a:latin typeface="Aptos"/>
              </a:defRPr>
            </a:pPr>
            <a:r>
              <a:t>Image</a:t>
            </a:r>
            <a:br/>
            <a:r>
              <a:t>Encoder (ViT)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32120" y="3154680"/>
            <a:ext cx="2103120" cy="786384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E4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300" b="1">
                <a:solidFill>
                  <a:srgbClr val="1E4078"/>
                </a:solidFill>
                <a:latin typeface="Aptos"/>
              </a:defRPr>
            </a:pPr>
            <a:r>
              <a:t>Prompt</a:t>
            </a:r>
            <a:br/>
            <a:r>
              <a:t>Encoder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154680"/>
            <a:ext cx="2057400" cy="786384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1E4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300" b="1">
                <a:solidFill>
                  <a:srgbClr val="1E4078"/>
                </a:solidFill>
                <a:latin typeface="Aptos"/>
              </a:defRPr>
            </a:pPr>
            <a:r>
              <a:t>Mask</a:t>
            </a:r>
            <a:br/>
            <a:r>
              <a:t>Decoder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71632" y="3154680"/>
            <a:ext cx="1143000" cy="786384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300" b="1">
                <a:solidFill>
                  <a:srgbClr val="2563EB"/>
                </a:solidFill>
                <a:latin typeface="Aptos"/>
              </a:defRPr>
            </a:pPr>
            <a:r>
              <a:t>Mask</a:t>
            </a:r>
            <a:br/>
            <a:r>
              <a:t>Output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3547872"/>
            <a:ext cx="45720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937760" y="3547872"/>
            <a:ext cx="59436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35240" y="3547872"/>
            <a:ext cx="640080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32720" y="3547872"/>
            <a:ext cx="438912" cy="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54680" y="278892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B. GigaPath Backbone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980944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B45309"/>
                </a:solidFill>
                <a:latin typeface="Aptos"/>
              </a:defRPr>
            </a:pPr>
            <a:r>
              <a:t>A. Supervised Fine-tune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35640" y="391363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91C1C"/>
                </a:solidFill>
                <a:latin typeface="Aptos"/>
              </a:defRPr>
            </a:pPr>
            <a:r>
              <a:t>E. Replace with</a:t>
            </a:r>
            <a:br/>
            <a:r>
              <a:t>CellViT / HoVerNet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1874519"/>
            <a:ext cx="2057400" cy="62179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1">
                <a:solidFill>
                  <a:srgbClr val="166534"/>
                </a:solidFill>
                <a:latin typeface="Aptos"/>
              </a:defRPr>
            </a:pPr>
            <a:r>
              <a:t>Gene Expression</a:t>
            </a:r>
            <a:br/>
            <a:r>
              <a:t>(18K genes)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1874519"/>
            <a:ext cx="2514600" cy="62179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166534"/>
                </a:solidFill>
                <a:latin typeface="Aptos"/>
              </a:defRPr>
            </a:pPr>
            <a:r>
              <a:t>Expression</a:t>
            </a:r>
            <a:br/>
            <a:r>
              <a:t>MLP Encoder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46120" y="2185416"/>
            <a:ext cx="2194560" cy="0"/>
          </a:xfrm>
          <a:prstGeom prst="line">
            <a:avLst/>
          </a:prstGeom>
          <a:ln w="2286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02552" y="2496312"/>
            <a:ext cx="0" cy="658368"/>
          </a:xfrm>
          <a:prstGeom prst="line">
            <a:avLst/>
          </a:prstGeom>
          <a:ln w="25400">
            <a:solidFill>
              <a:srgbClr val="1665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99632" y="25237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66534"/>
                </a:solidFill>
                <a:latin typeface="Aptos"/>
              </a:defRPr>
            </a:pPr>
            <a:r>
              <a:t>C. Expression</a:t>
            </a:r>
            <a:br/>
            <a:r>
              <a:t>-&gt; Prompt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1353312"/>
            <a:ext cx="3246120" cy="621792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1">
                <a:solidFill>
                  <a:srgbClr val="7E22CE"/>
                </a:solidFill>
                <a:latin typeface="Aptos"/>
              </a:defRPr>
            </a:pPr>
            <a:r>
              <a:t>Reference DB</a:t>
            </a:r>
            <a:br/>
            <a:r>
              <a:t>(annotated patches)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8229600" y="1975104"/>
            <a:ext cx="0" cy="1179576"/>
          </a:xfrm>
          <a:prstGeom prst="line">
            <a:avLst/>
          </a:prstGeom>
          <a:ln w="22860">
            <a:solidFill>
              <a:srgbClr val="7E22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012680" y="12984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7E22CE"/>
                </a:solidFill>
                <a:latin typeface="Aptos"/>
              </a:defRPr>
            </a:pPr>
            <a:r>
              <a:t>D. RAG: retrieve similar</a:t>
            </a:r>
            <a:br/>
            <a:r>
              <a:t>annotated patches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10912" y="4370832"/>
            <a:ext cx="1051560" cy="502920"/>
          </a:xfrm>
          <a:prstGeom prst="roundRect">
            <a:avLst/>
          </a:prstGeom>
          <a:solidFill>
            <a:srgbClr val="E5E7E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Points</a:t>
            </a:r>
            <a:br/>
            <a:r>
              <a:t>/ Boxes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9904" y="4370832"/>
            <a:ext cx="960120" cy="502920"/>
          </a:xfrm>
          <a:prstGeom prst="roundRect">
            <a:avLst/>
          </a:prstGeom>
          <a:solidFill>
            <a:srgbClr val="E5E7E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Text</a:t>
            </a:r>
            <a:br/>
            <a:r>
              <a:t>(CLIP)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77456" y="4370832"/>
            <a:ext cx="1143000" cy="502920"/>
          </a:xfrm>
          <a:prstGeom prst="roundRect">
            <a:avLst/>
          </a:prstGeom>
          <a:solidFill>
            <a:srgbClr val="E5E7EB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900" b="1">
                <a:solidFill>
                  <a:srgbClr val="64748B"/>
                </a:solidFill>
                <a:latin typeface="Aptos"/>
              </a:defRPr>
            </a:pPr>
            <a:r>
              <a:t>Exemplar</a:t>
            </a:r>
            <a:br/>
            <a:r>
              <a:t>Patches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532120" y="3941063"/>
            <a:ext cx="1051560" cy="429769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565392" y="3941063"/>
            <a:ext cx="18288" cy="429769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 flipV="1">
            <a:off x="6583680" y="3941063"/>
            <a:ext cx="1051560" cy="429769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256032" y="5349240"/>
          <a:ext cx="329184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971800"/>
              </a:tblGrid>
              <a:tr h="190500">
                <a:tc>
                  <a:txBody>
                    <a:bodyPr/>
                    <a:lstStyle/>
                    <a:p>
                      <a:pPr>
                        <a:defRPr sz="7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Direction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Supervised fine-tune image encoder + mask decoder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Replace image encoder with pathology foundation model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Expression MLP -&gt; Prompt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RAG: retrieval exemplars -&gt; Prompt Encoder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Replace whole SAM3 with pathology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Our training: what the model is actually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A two-modal H&amp;E-expression shared-space model before SAM3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Aptos"/>
              </a:defRPr>
            </a:pPr>
            <a:r>
              <a:t>Training sample = one spatial tissue location represented as (H&amp;E crop, VisiumHD expression vector, tissue label)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993392"/>
          <a:ext cx="110185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794760"/>
                <a:gridCol w="5715000"/>
              </a:tblGrid>
              <a:tr h="354330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is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teaches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H&amp;E crop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local morphology around the VisiumHD spot/bin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image tower learns pathology morphology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Expression vector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18,085-gene log-normalized VisiumHD profile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expression tower learns molecular / semantic tissue signal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Tissue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3-class coarse or 8-class fine expert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semantic anchor used by both towers through CE losses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3886200"/>
          <a:ext cx="10515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503920"/>
              </a:tblGrid>
              <a:tr h="329184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Main representation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H&amp;E and expression embeddings from biologically similar regions should live in a shared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Classification goal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image branch and expression branch should both predict the tissue label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Alignment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paired H&amp;E-expression embeddings should be closer than mismatched pairs when InfoNCE is used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SAM3 goal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use the learned space to rank regions, exemplars, prompts, or masks before/inside SAM3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806440"/>
            <a:ext cx="10378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21F31"/>
                </a:solidFill>
                <a:latin typeface="Aptos"/>
              </a:defRPr>
            </a:pPr>
            <a:r>
              <a:t>Important: this is not SAM3 fine-tuning yet. It is the expression-aware representation that will later feed SAM3 ranking/prompting.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Our architecture: two towers, projection heads, shared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This is the two-modal counterpart to Haiku's three-tower shared-space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60020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H&amp;E crop</a:t>
            </a:r>
            <a:br/>
            <a:r>
              <a:t>128 px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1417320"/>
            <a:ext cx="196596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Image encoder</a:t>
            </a:r>
            <a:br/>
            <a:r>
              <a:t>GigaPath / ResNet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417320"/>
            <a:ext cx="160020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187971"/>
                </a:solidFill>
                <a:latin typeface="Aptos"/>
              </a:defRPr>
            </a:pPr>
            <a:r>
              <a:t>Image</a:t>
            </a:r>
            <a:br/>
            <a:r>
              <a:t>projection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395728"/>
            <a:ext cx="160020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B45309"/>
                </a:solidFill>
                <a:latin typeface="Aptos"/>
              </a:defRPr>
            </a:pPr>
            <a:r>
              <a:t>Expression</a:t>
            </a:r>
            <a:br/>
            <a:r>
              <a:t>18,085 genes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395728"/>
            <a:ext cx="196596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B45309"/>
                </a:solidFill>
                <a:latin typeface="Aptos"/>
              </a:defRPr>
            </a:pPr>
            <a:r>
              <a:t>Expression</a:t>
            </a:r>
            <a:br/>
            <a:r>
              <a:t>MLP encoder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2395728"/>
            <a:ext cx="160020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187971"/>
                </a:solidFill>
                <a:latin typeface="Aptos"/>
              </a:defRPr>
            </a:pPr>
            <a:r>
              <a:t>Expression</a:t>
            </a:r>
            <a:br/>
            <a:r>
              <a:t>projection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874519"/>
            <a:ext cx="182880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2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121F31"/>
                </a:solidFill>
                <a:latin typeface="Aptos"/>
              </a:defRPr>
            </a:pPr>
            <a:r>
              <a:t>Shared</a:t>
            </a:r>
            <a:br/>
            <a:r>
              <a:t>embedding space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29800" y="1874519"/>
            <a:ext cx="1508760" cy="658368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166534"/>
                </a:solidFill>
                <a:latin typeface="Aptos"/>
              </a:defRPr>
            </a:pPr>
            <a:r>
              <a:t>Shared</a:t>
            </a:r>
            <a:br/>
            <a:r>
              <a:t>classifier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1682496"/>
            <a:ext cx="4114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663440" y="1682496"/>
            <a:ext cx="4114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75120" y="1682496"/>
            <a:ext cx="685800" cy="521208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89720" y="1682496"/>
            <a:ext cx="640080" cy="521208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286000" y="2660904"/>
            <a:ext cx="4114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63440" y="2660904"/>
            <a:ext cx="4114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675120" y="2203704"/>
            <a:ext cx="685800" cy="45720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9189720" y="2203704"/>
            <a:ext cx="640080" cy="45720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94360" y="3794760"/>
          <a:ext cx="1101852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154680"/>
                <a:gridCol w="6355080"/>
              </a:tblGrid>
              <a:tr h="314553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is there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Image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tile encoder or ResNet50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tests pathology foundation model vs generic CNN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Expression encoder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MLP over 18,085 genes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learns compact expression representation from VisiumHD profile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Projection heads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map both modalities to shared 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the space used by retrieval and alignment losses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6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Shared classifier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same classifier applied to image/expression embeddings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forces both modalities to predict the same tissue semantics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Our input construction: paired H&amp;E morphology and VisiumHD expression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The training unit is a co-localized image-expression pair with tissue-label supervision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11201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069080"/>
                <a:gridCol w="5532120"/>
              </a:tblGrid>
              <a:tr h="339634"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Input component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Our setting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H&amp;E 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Exp1 tissue_hires_image.png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same histology image underlying VisiumHD spots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Image crop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crop size 128 px for main GigaPath/ResNet ablation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local morphology around each spatial bin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Model input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resized to 224; ResNet kept at 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backbone-specific image input requirement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Expression source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expr_log1p.npz with 18,085 genes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molecular profile paired with the image crop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scaler.npz applied to expression values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keeps expression features numerically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Labels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3-class or 8-class expert tissue labels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7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semantic supervision and evaluation target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1F31"/>
                </a:solidFill>
                <a:latin typeface="Aptos"/>
              </a:defRPr>
            </a:pPr>
            <a:r>
              <a:t>3-class target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5720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21F31"/>
                </a:solidFill>
                <a:latin typeface="Aptos"/>
              </a:defRPr>
            </a:pPr>
            <a:r>
              <a:t>tumor / stroma / immune infiltration</a:t>
            </a:r>
            <a:br/>
            <a:r>
              <a:t>Coarse biological categories; currently the most stable setting.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42062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1F31"/>
                </a:solidFill>
                <a:latin typeface="Aptos"/>
              </a:defRPr>
            </a:pPr>
            <a:r>
              <a:t>8-class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45720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121F31"/>
                </a:solidFill>
                <a:latin typeface="Aptos"/>
              </a:defRPr>
            </a:pPr>
            <a:r>
              <a:t>all expert labels, including rarer or more ambiguous classes</a:t>
            </a:r>
            <a:br/>
            <a:r>
              <a:t>Harder because labels are finer and less morphologically separable.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Our projection and loss: how the model is optimized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We compare label supervision alone, label supervision plus alignment, and alignment alone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Aptos"/>
              </a:defRPr>
            </a:pPr>
            <a:r>
              <a:t>Total loss variants are built from CE_image, CE_expression, and an image-expression alignment term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74519"/>
          <a:ext cx="1120140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069080"/>
                <a:gridCol w="5715000"/>
              </a:tblGrid>
              <a:tr h="338328"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Loss part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Definition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CE_image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cross entropy from image embedding -&gt; tissue label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teaches H&amp;E morphology to predict tissue semantics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CE_expression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cross entropy from expression embedding -&gt; tissue label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turns expression tower into supervised molecular/semantic anchor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MSE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distance between normalized image/expression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baseline pairwise closeness objective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InfoNCE alignment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paired image-expression positives vs in-batch negatives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6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CLIP-style alignment; directly optimizes retrieval structure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4069080"/>
          <a:ext cx="108356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383280"/>
                <a:gridCol w="5760720"/>
              </a:tblGrid>
              <a:tr h="320040">
                <a:tc>
                  <a:txBody>
                    <a:bodyPr/>
                    <a:lstStyle/>
                    <a:p>
                      <a:pPr>
                        <a:defRPr sz="75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Loss formula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 answered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Original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CE_img + CE_expr + 0.5 x 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first working shared-space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CE-only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CE_img + CE_expr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tests whether shared labels alone create useful retrieval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 + InfoNCE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CE_img + CE_expr + lambda x symmetric InfoNCE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tests whether paired alignment adds value beyond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InfoNCE-only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symmetric InfoNCE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tests whether paired data can align without tissue-label anchor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943600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21F31"/>
                </a:solidFill>
                <a:latin typeface="Aptos"/>
              </a:defRPr>
            </a:pPr>
            <a:r>
              <a:t>InfoNCE uses tau = 0.07; lambda sweep = 0, 0.05, 0.10, 0.20, 0.50.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Our training strategy: what is frozen, what is trained, and what changed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This is the practical methods table for the runs in the result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39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703320"/>
                <a:gridCol w="5623560"/>
              </a:tblGrid>
              <a:tr h="333102">
                <a:tc>
                  <a:txBody>
                    <a:bodyPr/>
                    <a:lstStyle/>
                    <a:p>
                      <a:pPr>
                        <a:defRPr sz="74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Training part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Our setting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Base ablation backbone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frozen GigaPath / frozen ResNet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avoid overfitting while testing projection/expression/loss design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Trainable in base ablation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image projection, expression MLP, shared classifier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these parts learn the cross-modal task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Base 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AdamW, weight decay 1e-4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standard stable optimizer for neural fine-tuning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Base LR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projection / expression / classifier = 1e-4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same LR for newly trained parts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Regularization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dropout = 0.3; early stop patience =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reduce overfitting on limited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Class imbalance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balanced sampler + sqrt inverse class weights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rare labels contribute more without exploding weights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4069080"/>
          <a:ext cx="1083564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240280"/>
                <a:gridCol w="4480560"/>
              </a:tblGrid>
              <a:tr h="314553">
                <a:tc>
                  <a:txBody>
                    <a:bodyPr/>
                    <a:lstStyle/>
                    <a:p>
                      <a:pPr>
                        <a:defRPr sz="73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Training strategy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Image encoder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Schedule/LR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Frozen constant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 trainable blocks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constant LR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Frozen warmup/cosine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 trainable blocks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warmup/cosine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tests schedule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Last-1 warmup/cosine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last 1 image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backbone LR 1e-5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controlled pathology feature adaptation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6"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Last-2 warmup/cosine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last 2 image blocks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backbone LR 1e-5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closest to Haiku-style image fine-tuning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What we changed across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The goal is to isolate backbone choice, label granularity, alignment loss, and fine-tuning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33172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400" b="1">
                <a:solidFill>
                  <a:srgbClr val="2563EB"/>
                </a:solidFill>
                <a:latin typeface="Aptos"/>
              </a:defRPr>
            </a:pPr>
            <a:r>
              <a:t>Backbone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2148840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0">
                <a:solidFill>
                  <a:srgbClr val="2563EB"/>
                </a:solidFill>
                <a:latin typeface="Aptos"/>
              </a:defRPr>
            </a:pPr>
            <a:r>
              <a:t>ResNet50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" y="2862072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0">
                <a:solidFill>
                  <a:srgbClr val="2563EB"/>
                </a:solidFill>
                <a:latin typeface="Aptos"/>
              </a:defRPr>
            </a:pPr>
            <a:r>
              <a:t>GigaPath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" y="3575304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0">
                <a:solidFill>
                  <a:srgbClr val="2563EB"/>
                </a:solidFill>
                <a:latin typeface="Aptos"/>
              </a:defRPr>
            </a:pPr>
            <a:r>
              <a:t>MUSK pending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417320"/>
            <a:ext cx="233172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400" b="1">
                <a:solidFill>
                  <a:srgbClr val="166534"/>
                </a:solidFill>
                <a:latin typeface="Aptos"/>
              </a:defRPr>
            </a:pPr>
            <a:r>
              <a:t>Label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9312" y="2148840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0">
                <a:solidFill>
                  <a:srgbClr val="166534"/>
                </a:solidFill>
                <a:latin typeface="Aptos"/>
              </a:defRPr>
            </a:pPr>
            <a:r>
              <a:t>3-class coarse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39312" y="2862072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0">
                <a:solidFill>
                  <a:srgbClr val="166534"/>
                </a:solidFill>
                <a:latin typeface="Aptos"/>
              </a:defRPr>
            </a:pPr>
            <a:r>
              <a:t>8-class fine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417320"/>
            <a:ext cx="233172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400" b="1">
                <a:solidFill>
                  <a:srgbClr val="B45309"/>
                </a:solidFill>
                <a:latin typeface="Aptos"/>
              </a:defRPr>
            </a:pPr>
            <a:r>
              <a:t>Loss design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2148840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0">
                <a:solidFill>
                  <a:srgbClr val="B45309"/>
                </a:solidFill>
                <a:latin typeface="Aptos"/>
              </a:defRPr>
            </a:pPr>
            <a:r>
              <a:t>CE-only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2862072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0">
                <a:solidFill>
                  <a:srgbClr val="B45309"/>
                </a:solidFill>
                <a:latin typeface="Aptos"/>
              </a:defRPr>
            </a:pPr>
            <a:r>
              <a:t>CE + InfoNCE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3575304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0">
                <a:solidFill>
                  <a:srgbClr val="B45309"/>
                </a:solidFill>
                <a:latin typeface="Aptos"/>
              </a:defRPr>
            </a:pPr>
            <a:r>
              <a:t>InfoNCE-only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417320"/>
            <a:ext cx="233172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400" b="1">
                <a:solidFill>
                  <a:srgbClr val="187971"/>
                </a:solidFill>
                <a:latin typeface="Aptos"/>
              </a:defRPr>
            </a:pPr>
            <a:r>
              <a:t>Training strategy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2148840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0">
                <a:solidFill>
                  <a:srgbClr val="187971"/>
                </a:solidFill>
                <a:latin typeface="Aptos"/>
              </a:defRPr>
            </a:pPr>
            <a:r>
              <a:t>Frozen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00032" y="2862072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0">
                <a:solidFill>
                  <a:srgbClr val="187971"/>
                </a:solidFill>
                <a:latin typeface="Aptos"/>
              </a:defRPr>
            </a:pPr>
            <a:r>
              <a:t>Last-1 block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00032" y="3575304"/>
            <a:ext cx="1993392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00" b="0">
                <a:solidFill>
                  <a:srgbClr val="187971"/>
                </a:solidFill>
                <a:latin typeface="Aptos"/>
              </a:defRPr>
            </a:pPr>
            <a:r>
              <a:t>Last-2 blocks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21F31"/>
                </a:solidFill>
                <a:latin typeface="Aptos"/>
              </a:defRPr>
            </a:pPr>
            <a:r>
              <a:t>Read the experiment grid from left to right: choose a backbone, choose label granularity, choose the loss, then choose whether to fine-tune the image encoder.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46811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0">
                <a:solidFill>
                  <a:srgbClr val="121F31"/>
                </a:solidFill>
                <a:latin typeface="Aptos"/>
              </a:defRPr>
            </a:pPr>
            <a:r>
              <a:t>This is why the result section separates supervised metrics from retrieval/fusion metrics: classification tells us whether each tower learned tissue semantics; retrieval tells us whether the two towers share a useful space.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Our experiment grid: same training recipe, different supervision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The ablation asks whether retrieval comes from shared labels, cross-modal alignment, or both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1097280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337560"/>
                <a:gridCol w="6263640"/>
              </a:tblGrid>
              <a:tr h="333102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3-class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tumor / stroma / immune infiltration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coarse labels; expected more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8-class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all expert labels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fine-grained labels; tests rare/ambiguous categories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Crop/input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GigaPath: 128 -&gt; 224; ResNet: 128 -&gt; 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same H&amp;E crop, backbone-specific input resize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Batch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32; ResNet 128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is heavier, ResNet allows larger batch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3102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8 total, early stop patience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fast controlled ablation, best checkpoint by val macro-F1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3108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Sampling/CE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balanced sampler + sqrt inverse class weights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reduces dominance of common classes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0690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1F31"/>
                </a:solidFill>
                <a:latin typeface="Aptos"/>
              </a:defRPr>
            </a:pPr>
            <a:r>
              <a:t>Loss variants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4526280"/>
          <a:ext cx="557784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920240"/>
                <a:gridCol w="2514600"/>
              </a:tblGrid>
              <a:tr h="301752">
                <a:tc>
                  <a:txBody>
                    <a:bodyPr/>
                    <a:lstStyle/>
                    <a:p>
                      <a:pPr>
                        <a:defRPr sz="75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Variant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CE_img + CE_expr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Do the two towers only learn label semantics separately?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 + InfoNCE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CE_img + CE_expr + lambda x symmetric InfoNCE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Does paired H&amp;E-expression alignment improve the shared space?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InfoNCE-only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symmetric InfoNCE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Can paired data align without tissue labels?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29400" y="40690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1F31"/>
                </a:solidFill>
                <a:latin typeface="Aptos"/>
              </a:defRPr>
            </a:pPr>
            <a:r>
              <a:t>Lambda sweep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4526280"/>
            <a:ext cx="566928" cy="411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950" b="1">
                <a:solidFill>
                  <a:srgbClr val="64748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2631" y="4526280"/>
            <a:ext cx="566928" cy="411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950" b="1">
                <a:solidFill>
                  <a:srgbClr val="187971"/>
                </a:solidFill>
                <a:latin typeface="Aptos"/>
              </a:defRPr>
            </a:pPr>
            <a:r>
              <a:t>0.05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4526280"/>
            <a:ext cx="566928" cy="411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950" b="1">
                <a:solidFill>
                  <a:srgbClr val="187971"/>
                </a:solidFill>
                <a:latin typeface="Aptos"/>
              </a:defRPr>
            </a:pPr>
            <a:r>
              <a:t>0.10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69096" y="4526280"/>
            <a:ext cx="566928" cy="411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950" b="1">
                <a:solidFill>
                  <a:srgbClr val="187971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82328" y="4526280"/>
            <a:ext cx="566928" cy="411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950" b="1">
                <a:solidFill>
                  <a:srgbClr val="187971"/>
                </a:solidFill>
                <a:latin typeface="Aptos"/>
              </a:defRPr>
            </a:pPr>
            <a:r>
              <a:t>0.50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95560" y="4526280"/>
            <a:ext cx="566928" cy="4114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950" b="1">
                <a:solidFill>
                  <a:srgbClr val="B45309"/>
                </a:solidFill>
                <a:latin typeface="Aptos"/>
              </a:defRPr>
            </a:pPr>
            <a:r>
              <a:t>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5166360"/>
            <a:ext cx="4434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0">
                <a:solidFill>
                  <a:srgbClr val="121F31"/>
                </a:solidFill>
                <a:latin typeface="Aptos"/>
              </a:defRPr>
            </a:pPr>
            <a:r>
              <a:t>Presentation interpretation: if CE-only is strong but InfoNCE-only fails, labels are the semantic anchor; if CE+InfoNCE improves retrieval, contrastive alignment adds value beyond classification.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Completed experiments: ResNet baseline and GigaPath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These are the runs already completed before the new loss ablation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960120"/>
                <a:gridCol w="1508760"/>
                <a:gridCol w="731520"/>
                <a:gridCol w="1143000"/>
                <a:gridCol w="4892040"/>
              </a:tblGrid>
              <a:tr h="420624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Job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Classes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Crop/Input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was run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ResNet contrastive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11016975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InfoNCE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64/64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simple cross-modal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crop64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11016957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 + CE + MSE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64/224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pathology image features, local crop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crop128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11016973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 + CE + 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128/224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larger context for fine labels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crop128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11016974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 + CE + MSE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128/224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coarse tumor/stroma/immune target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385876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1F31"/>
                </a:solidFill>
                <a:latin typeface="Aptos"/>
              </a:defRPr>
            </a:pPr>
            <a:r>
              <a:t>Best supervised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51960"/>
            <a:ext cx="141732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0.765</a:t>
            </a:r>
          </a:p>
          <a:p>
            <a:pPr algn="ctr">
              <a:defRPr sz="850">
                <a:solidFill>
                  <a:srgbClr val="FFFFFF"/>
                </a:solidFill>
                <a:latin typeface="Aptos"/>
              </a:defRPr>
            </a:pPr>
            <a:r>
              <a:t>last-2 expr acc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4251960"/>
            <a:ext cx="1417320" cy="777240"/>
          </a:xfrm>
          <a:prstGeom prst="roundRect">
            <a:avLst/>
          </a:prstGeom>
          <a:solidFill>
            <a:srgbClr val="187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0.694</a:t>
            </a:r>
          </a:p>
          <a:p>
            <a:pPr algn="ctr">
              <a:defRPr sz="850">
                <a:solidFill>
                  <a:srgbClr val="FFFFFF"/>
                </a:solidFill>
                <a:latin typeface="Aptos"/>
              </a:defRPr>
            </a:pPr>
            <a:r>
              <a:t>last-2 macro-F1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2191" y="4251960"/>
            <a:ext cx="1417320" cy="77724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0.745</a:t>
            </a:r>
          </a:p>
          <a:p>
            <a:pPr algn="ctr">
              <a:defRPr sz="850">
                <a:solidFill>
                  <a:srgbClr val="FFFFFF"/>
                </a:solidFill>
                <a:latin typeface="Aptos"/>
              </a:defRPr>
            </a:pPr>
            <a:r>
              <a:t>CE-only R@1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069080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F31"/>
                </a:solidFill>
                <a:latin typeface="Aptos"/>
              </a:defRPr>
            </a:pPr>
            <a:r>
              <a:t>Takeaway: coarse 3-class labels are still more stable than 8-class labels, but Haiku-inspired last-2-block fine-tuning improved both 3-class supervised metrics and 8-class image recognition. Retrieval now shows the fine-tuned models help fused/probe readouts more than raw R@1.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Key training result tables: what finished and what it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These are the numbers to cite verbally before showing retrieval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70432"/>
          <a:ext cx="1138428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822960"/>
                <a:gridCol w="777240"/>
                <a:gridCol w="914400"/>
                <a:gridCol w="822960"/>
                <a:gridCol w="5897880"/>
              </a:tblGrid>
              <a:tr h="338328">
                <a:tc>
                  <a:txBody>
                    <a:bodyPr/>
                    <a:lstStyle/>
                    <a:p>
                      <a:pPr>
                        <a:defRPr sz="71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Job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Expr acc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Expr macro-F1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Image acc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8c crop64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11016957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0.5948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0.4368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8-class baseline, smaller crop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8c crop128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11016973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0.6100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0.4366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0.5328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larger crop did not solve fine labels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3c crop128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11016974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coarse labels much more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8c last2 warmcos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11040134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0.6316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0.4512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0.7084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fine-tuning improves image branch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1F31"/>
                </a:solidFill>
                <a:latin typeface="Aptos"/>
              </a:defRPr>
            </a:pPr>
            <a:r>
              <a:t>Haiku-inspired 3-class training strategy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3611880"/>
          <a:ext cx="562356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594360"/>
                <a:gridCol w="1143000"/>
                <a:gridCol w="749808"/>
                <a:gridCol w="822960"/>
                <a:gridCol w="896112"/>
              </a:tblGrid>
              <a:tr h="320040">
                <a:tc>
                  <a:txBody>
                    <a:bodyPr/>
                    <a:lstStyle/>
                    <a:p>
                      <a:pPr>
                        <a:defRPr sz="6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Strategy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Blocks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LR schedule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Expr acc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Image acc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Frozen constant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constant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0.7568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Frozen warm/cos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warmup/cosine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0.7532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0.6796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0.6908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Last-1 warm/cos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warmup/cosine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0.7652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Last-2 warm/cos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warmup/cosine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0.7652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0.6945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0.8312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5508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1F31"/>
                </a:solidFill>
                <a:latin typeface="Aptos"/>
              </a:defRPr>
            </a:pPr>
            <a:r>
              <a:t>3-class retrieval/fusion readout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3611880"/>
          <a:ext cx="4654296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13232"/>
                <a:gridCol w="713232"/>
                <a:gridCol w="713232"/>
                <a:gridCol w="1051560"/>
              </a:tblGrid>
              <a:tr h="32004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R@1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R@5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R@10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Fused R@1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InfoNCE .10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0.858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0.858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Last-1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Last-2 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0.865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5650992"/>
            <a:ext cx="10607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2563EB"/>
                </a:solidFill>
                <a:latin typeface="Aptos"/>
              </a:defRPr>
            </a:pPr>
            <a:r>
              <a:t>Main interpretation: last-2 fine-tuning wins supervised image accuracy and fused/probe retrieval, while CE-only / last-1 remain strong raw nearest-neighbor baselines.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Training behavior: 3-class converges; 8-class generalizes poorly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The 8-class model learns training labels, but validation expression CE stays high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pic>
        <p:nvPicPr>
          <p:cNvPr id="6" name="Picture 5" descr="presentation_3class_vs_8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5303520" cy="2117996"/>
          </a:xfrm>
          <a:prstGeom prst="rect">
            <a:avLst/>
          </a:prstGeom>
        </p:spPr>
      </p:pic>
      <p:pic>
        <p:nvPicPr>
          <p:cNvPr id="7" name="Picture 6" descr="presentation_expression_ce_generalization_g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25880"/>
            <a:ext cx="5303520" cy="21179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5623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0">
                <a:solidFill>
                  <a:srgbClr val="121F31"/>
                </a:solidFill>
                <a:latin typeface="Aptos"/>
              </a:defRPr>
            </a:pPr>
            <a:r>
              <a:t>Interpretation: fine 8-class labels likely mix morphology ambiguity, rare classes, and label noise. This is why the next experiment tests whether alignment helps, hurts, or is dominated by classification 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Retrieval results: fine-tuning helps fused/probe readouts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Expression-to-image retrieval checks whether expression embeddings retrieve matching H&amp;E regions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98448"/>
          <a:ext cx="5029200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40080"/>
                <a:gridCol w="640080"/>
                <a:gridCol w="685800"/>
                <a:gridCol w="960120"/>
              </a:tblGrid>
              <a:tr h="363147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R@1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R@5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R@10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Best fused R@1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6314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3c CE-only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314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3c InfoNCE .10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0.858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0.900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0.858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314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3c last-1 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314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3c last-2 ft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0.865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63147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3c InfoNCE 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315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ResNet 3c CE-only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0.902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0.759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retrieval_overall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43000"/>
            <a:ext cx="5394960" cy="34624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416052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20" b="0">
                <a:solidFill>
                  <a:srgbClr val="121F31"/>
                </a:solidFill>
                <a:latin typeface="Aptos"/>
              </a:defRPr>
            </a:pPr>
            <a:r>
              <a:t>Current retrieval readout: CE-only still has the strongest raw 3-class R@1. Last-1 fine-tuning nearly matches it, while last-2 gives the best fused R@1 and concatenated probe, so the shared representation improved even though raw nearest-neighbor R@1 did not.</a:t>
            </a:r>
          </a:p>
        </p:txBody>
      </p:sp>
      <p:pic>
        <p:nvPicPr>
          <p:cNvPr id="9" name="Picture 8" descr="gigapath_3class_per_label_recal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886200"/>
            <a:ext cx="4663440" cy="312041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Haiku: what it is actually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A tri-modal CLIP-style framework over co-registered H&amp;E, mIF, and structured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10881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2563EB"/>
                </a:solidFill>
                <a:latin typeface="Aptos"/>
              </a:defRPr>
            </a:pPr>
            <a:r>
              <a:t>Training sample = one spatial tissue region represented three ways: (H&amp;E patch, mIF patch, text description)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2057400"/>
          <a:ext cx="110185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834640"/>
                <a:gridCol w="6766560"/>
              </a:tblGrid>
              <a:tr h="35433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Modality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carries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Where it comes from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H&amp;E 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local morphology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strictly registered to the same spatial location as mIF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mIF patch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spatial proteomics / biomarker image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multi-channel molecular image, not ordinary RGB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433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Text 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biomarker pattern + clinical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generated from patch-level molecular statistics plus patient/slice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3977639"/>
          <a:ext cx="10378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549640"/>
              </a:tblGrid>
              <a:tr h="310896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Concept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Alignment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same tissue region across three modalities should be close in embedding space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Separation goal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different regions in the batch should be pushed apart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Not the goal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not just one classifier; classification is only one downstream readout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What it enables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cross-modal retrieval, zero-shot biomarker inference, clinical prediction, counterfactual analysis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870448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21F31"/>
                </a:solidFill>
                <a:latin typeface="Aptos"/>
              </a:defRPr>
            </a:pPr>
            <a:r>
              <a:t>This is the central connection to our project: use a shared space first, then use retrieval/fusion to guide biological inference or SAM3 ranking.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Haiku architecture: three towers project into one 512-dim 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Think of it as CLIP extended from two modalities to three modalities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89888"/>
            <a:ext cx="164592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H&amp;E 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89888"/>
            <a:ext cx="173736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MUSK ViT</a:t>
            </a:r>
            <a:br/>
            <a:r>
              <a:t>H&amp;E encoder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389888"/>
            <a:ext cx="164592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187971"/>
                </a:solidFill>
                <a:latin typeface="Aptos"/>
              </a:defRPr>
            </a:pPr>
            <a:r>
              <a:t>H&amp;E projection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164592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B45309"/>
                </a:solidFill>
                <a:latin typeface="Aptos"/>
              </a:defRPr>
            </a:pPr>
            <a:r>
              <a:t>mIF 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212848"/>
            <a:ext cx="173736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B45309"/>
                </a:solidFill>
                <a:latin typeface="Aptos"/>
              </a:defRPr>
            </a:pPr>
            <a:r>
              <a:t>VirTues</a:t>
            </a:r>
            <a:br/>
            <a:r>
              <a:t>mIF encoder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212848"/>
            <a:ext cx="164592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187971"/>
                </a:solidFill>
                <a:latin typeface="Aptos"/>
              </a:defRPr>
            </a:pPr>
            <a:r>
              <a:t>mIF projection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35808"/>
            <a:ext cx="164592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166534"/>
                </a:solidFill>
                <a:latin typeface="Aptos"/>
              </a:defRPr>
            </a:pPr>
            <a:r>
              <a:t>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3035808"/>
            <a:ext cx="173736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166534"/>
                </a:solidFill>
                <a:latin typeface="Aptos"/>
              </a:defRPr>
            </a:pPr>
            <a:r>
              <a:t>BiomedBERT</a:t>
            </a:r>
            <a:br/>
            <a:r>
              <a:t>text encoder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3035808"/>
            <a:ext cx="1645920" cy="5303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187971"/>
                </a:solidFill>
                <a:latin typeface="Aptos"/>
              </a:defRPr>
            </a:pPr>
            <a:r>
              <a:t>Text projection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2212848"/>
            <a:ext cx="2377440" cy="71323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2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200" b="1">
                <a:solidFill>
                  <a:srgbClr val="121F31"/>
                </a:solidFill>
                <a:latin typeface="Aptos"/>
              </a:defRPr>
            </a:pPr>
            <a:r>
              <a:t>Shared 512-dim</a:t>
            </a:r>
            <a:br/>
            <a:r>
              <a:t>L2-normalized embedding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331720" y="1655064"/>
            <a:ext cx="4114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80560" y="1655064"/>
            <a:ext cx="4114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537960" y="1655064"/>
            <a:ext cx="822960" cy="91440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331720" y="2478024"/>
            <a:ext cx="4114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0560" y="2478024"/>
            <a:ext cx="4114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537960" y="2478024"/>
            <a:ext cx="822960" cy="9144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31720" y="3300984"/>
            <a:ext cx="4114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480560" y="3300984"/>
            <a:ext cx="411480" cy="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537960" y="2569464"/>
            <a:ext cx="822960" cy="73152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94360" y="4069080"/>
          <a:ext cx="110185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703320"/>
                <a:gridCol w="5897880"/>
              </a:tblGrid>
              <a:tr h="259080">
                <a:tc>
                  <a:txBody>
                    <a:bodyPr/>
                    <a:lstStyle/>
                    <a:p>
                      <a:pPr>
                        <a:defRPr sz="72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Exact encoder / mechanism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H&amp;E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pretrained MUSK vision transformer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pathology morphology foundation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Text encoder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BiomedBERT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clinical / biomarker semantic text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mIF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VirTues pretrained on large mIF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molecular/protein imaging anchor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mIF channel identity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ESM-3 protein embedding per biomarker channel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lets model know which protein each channel represents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Non-protein channel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DAPI gets a learned 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handles channels without protein 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Haiku input construction: how the text and mIF signals are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The text branch is structured biological language generated from quantitative mIF and clinical metadata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201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160520"/>
                <a:gridCol w="5577840"/>
              </a:tblGrid>
              <a:tr h="320040"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Image part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Haiku setting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H&amp;E and mIF both 256 x 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same scale local region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mIF sliding window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stride = floor(0.7P), about 179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overlapping tissue coverage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Patch filter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tissue coverage &gt; 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removes background-heavy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mIF normalization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per-channel normalize, clip, rescale to [0,1], 8-bit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8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standardizes biomarker channels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246120"/>
          <a:ext cx="11201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4160520"/>
                <a:gridCol w="5532120"/>
              </a:tblGrid>
              <a:tr h="358140">
                <a:tc>
                  <a:txBody>
                    <a:bodyPr/>
                    <a:lstStyle/>
                    <a:p>
                      <a:pPr>
                        <a:defRPr sz="73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Text source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How it is computed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contributes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Biomarker intensity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patch mean intensity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local protein abundance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Relative level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slice z-score + percentile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whether marker is high/low within the slide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Spatial statistics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coverage, CV, clustering, GLCM texture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how signal is distributed spatially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Discrete pattern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sparse / uniform / clustered / heterogeneous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turns quantitative image statistics into language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Clinical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organ, disease, stage, survival, treatment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3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patient/slice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797296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Aptos"/>
              </a:defRPr>
            </a:pPr>
            <a:r>
              <a:t>Key point for our project: we can later generate analogous structured text from gene sets, tissue labels, or clinical metadata instead of using only class labels.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Haiku projection head and loss: what actually enters contrastive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Encoder features are not compared directly; each modality first goes through its own MLP projection head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563EB"/>
                </a:solidFill>
                <a:latin typeface="Aptos"/>
              </a:defRPr>
            </a:pPr>
            <a:r>
              <a:t>Projection head for each modality: g_m(h) = BN(W2 ReLU(W1 h))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993392"/>
          <a:ext cx="5440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2606040"/>
              </a:tblGrid>
              <a:tr h="329184">
                <a:tc>
                  <a:txBody>
                    <a:bodyPr/>
                    <a:lstStyle/>
                    <a:p>
                      <a:pPr>
                        <a:defRPr sz="74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Projection detail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2-layer MLP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same structure, separate parameters for each modality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Output dimension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shared embedding dimension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L2 normalize after 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cosine similarity becomes the comparison metric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Compared features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projected embeddings z, not raw encoder features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prevents encoder-specific feature scales from dominating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46520" y="1234440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50" b="1">
                <a:solidFill>
                  <a:srgbClr val="2563EB"/>
                </a:solidFill>
                <a:latin typeface="Aptos"/>
              </a:defRPr>
            </a:pPr>
            <a:r>
              <a:t>InfoNCE: positive = same spatial location; negatives = other batch regions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355080" y="1993392"/>
          <a:ext cx="5074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600200"/>
                <a:gridCol w="2331720"/>
              </a:tblGrid>
              <a:tr h="329184">
                <a:tc>
                  <a:txBody>
                    <a:bodyPr/>
                    <a:lstStyle/>
                    <a:p>
                      <a:pPr>
                        <a:defRPr sz="72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Loss detail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cosine similarity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after L2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Temperature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tau = 0.07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controls contrastive sharpness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 = 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provides in-batch negatives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exp(sim(pos)/tau) / sum_j exp(sim(neg_j)/tau)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correct pair should rank above wrong pairs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103120" y="4343400"/>
          <a:ext cx="795528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943600"/>
              </a:tblGrid>
              <a:tr h="29718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Symmetric loss pair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aligns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L_HE &lt;-&gt; mIF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morphology to spatial protein pattern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L_mIF &lt;-&gt; TXT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protein pattern to structured clinical/biomarker semantics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L_HE &lt;-&gt; TXT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morphology to clinical/semantic context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7240" y="57881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20" b="1">
                <a:solidFill>
                  <a:srgbClr val="121F31"/>
                </a:solidFill>
                <a:latin typeface="Aptos"/>
              </a:defRPr>
            </a:pPr>
            <a:r>
              <a:t>This is why we replaced simple MSE alignment with CLIP-style symmetric InfoNCE in our ablation.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Haiku training, fusion, and final tasks: the methods details we borrow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The paper's main lesson is controlled fine-tuning plus retrieval-time fusion, not early-fusion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07008"/>
          <a:ext cx="112928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3246120"/>
                <a:gridCol w="6537960"/>
              </a:tblGrid>
              <a:tr h="329184">
                <a:tc>
                  <a:txBody>
                    <a:bodyPr/>
                    <a:lstStyle/>
                    <a:p>
                      <a:pPr>
                        <a:defRPr sz="71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Training part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Haiku choice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Interpretation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Frozen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mIF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pretrained molecular anchor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Fine-tuned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last 2 blocks of H&amp;E encoder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small adaptation of MUSK morphology features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Fine-tuned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last 2 blocks of text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small adaptation of BiomedBERT semantics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Fully trained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all projection heads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main learnable bridge into shared 512-dim space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Learning rates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H&amp;E 1e-5; text 2e-5; projection 1e-4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small LR for foundation encoders, larger LR for new heads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Optimizer/schedule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AdamW; 5000 warmup steps; cosine annealing; 25 epochs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5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stable contrastive alignment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3913632"/>
          <a:ext cx="548640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08760"/>
                <a:gridCol w="2331720"/>
              </a:tblGrid>
              <a:tr h="314553">
                <a:tc>
                  <a:txBody>
                    <a:bodyPr/>
                    <a:lstStyle/>
                    <a:p>
                      <a:pPr>
                        <a:defRPr sz="7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Fusion setting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Weighting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Training-time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none / shared-space alignment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modalities are not concatenated as early 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Biomarker inference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0.8 x H&amp;E + 0.2 x text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mostly morphology, some clinical/semantic conditioning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Counterfactual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0.6 x H&amp;E + 0.4 x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increase text effect to test conditional shifts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6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Our equivalent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image-expression alpha sweep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rank H&amp;E regions / candidate SAM3 masks using fused evidence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3913632"/>
          <a:ext cx="5120640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474720"/>
              </a:tblGrid>
              <a:tr h="314553">
                <a:tc>
                  <a:txBody>
                    <a:bodyPr/>
                    <a:lstStyle/>
                    <a:p>
                      <a:pPr>
                        <a:defRPr sz="7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Final use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What it tests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Cross-modal retrieval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H&amp;E &lt;-&gt; mIF; text -&gt; mIF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Downstream prediction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organ, tissue type, T/N stage, grade, survival, treatment response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14553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Zero-shot biomarker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retrieve mIF neighbors and aggregate marker intensity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4556"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Counterfactual discovery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fix H&amp;E, edit text metadata, observe retrieved molecular neighbors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How our current plan maps to Haiku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We borrow the shared-space/retrieval idea, but adapt it to expression + SAM3 rather than mIF + clinical 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842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743200"/>
                <a:gridCol w="3246120"/>
                <a:gridCol w="4160520"/>
              </a:tblGrid>
              <a:tr h="437605">
                <a:tc>
                  <a:txBody>
                    <a:bodyPr/>
                    <a:lstStyle/>
                    <a:p>
                      <a:pPr>
                        <a:defRPr sz="6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Haiku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Our current setup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Molecular anchor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Frozen pretrained mIF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Expression MLP trained with CE_expr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Need stronger molecular pretraining/gene-set text later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Image encoder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MUSK, fine-tune last two blocks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GigaPath/ResNet frozen in ablation; MUSK smoke submitted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MUSK is worth testing because Haiku used 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Text modality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BiomedBERT from structured biomarker + clinical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not in current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next: structured gene-set/tissue-region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Projection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2-layer MLP to 512-dim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MLP to 128-dim; embed512 GigaPath job running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test whether 512 helps retrieval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37605"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pairwise symmetric InfoNCE across 3 modality 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CE_img + CE_expr, with MSE/InfoNCE ablation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 is needed because expression side lacks pretrained anchor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7610"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Fusion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weighted H&amp;E/text query to mIF gallery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retrieval/fusion alpha sweep for image-expression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use for SAM3 proposal/mask ranking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0060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21F31"/>
                </a:solidFill>
                <a:latin typeface="Aptos"/>
              </a:defRPr>
            </a:pPr>
            <a:r>
              <a:t>Message for group meeting: I am not claiming we already replicated Haiku. I am using Haiku as the design template, then testing which parts transfer to H&amp;E + VisiumHD expression before connecting the representation to SAM3.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New ablation: test what each loss term contributes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This turns the loss design from an assumption into an experiment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325880"/>
          <a:ext cx="11064239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3749039"/>
                <a:gridCol w="1097280"/>
                <a:gridCol w="4617720"/>
              </a:tblGrid>
              <a:tr h="448056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Loss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Question answered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CE_img + CE_expr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best raw 3-class R@1 so far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 + InfoNCE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CE_img + CE_expr + lambda x symmetric InfoNCE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better top-k/fused retrieval in some runs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InfoNCE-only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symmetric InfoNCE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weak classification, useful diagnostic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Haiku strategy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last-1/2 blocks + warmup/cosine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completed + retrieval done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fine-tuning improves fused/probe readouts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977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1F31"/>
                </a:solidFill>
                <a:latin typeface="Aptos"/>
              </a:defRPr>
            </a:pPr>
            <a:r>
              <a:t>InfoNCE lambda sweep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480560"/>
            <a:ext cx="804672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300" b="1">
                <a:solidFill>
                  <a:srgbClr val="64748B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01952" y="4480560"/>
            <a:ext cx="804672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300" b="1">
                <a:solidFill>
                  <a:srgbClr val="187971"/>
                </a:solidFill>
                <a:latin typeface="Aptos"/>
              </a:defRPr>
            </a:pPr>
            <a:r>
              <a:t>0.05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0944" y="4480560"/>
            <a:ext cx="804672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300" b="1">
                <a:solidFill>
                  <a:srgbClr val="187971"/>
                </a:solidFill>
                <a:latin typeface="Aptos"/>
              </a:defRPr>
            </a:pPr>
            <a:r>
              <a:t>0.10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59936" y="4480560"/>
            <a:ext cx="804672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300" b="1">
                <a:solidFill>
                  <a:srgbClr val="187971"/>
                </a:solidFill>
                <a:latin typeface="Aptos"/>
              </a:defRPr>
            </a:pPr>
            <a:r>
              <a:t>0.20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8" y="4480560"/>
            <a:ext cx="804672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300" b="1">
                <a:solidFill>
                  <a:srgbClr val="187971"/>
                </a:solidFill>
                <a:latin typeface="Aptos"/>
              </a:defRPr>
            </a:pPr>
            <a:r>
              <a:t>0.50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977639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F31"/>
                </a:solidFill>
                <a:latin typeface="Aptos"/>
              </a:defRPr>
            </a:pPr>
            <a:r>
              <a:t>Overnight readout: training-strategy retrieval completed, the 8-class last-2-block warmup/cosine run completed, and the former OOM retrieval tasks were rerun successfully with chunked retrieval. The validation set is now complete and archived.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Current HPC status: validation set is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Stable CSV/JSON snapshots are written under the project results directory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554480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33</a:t>
            </a:r>
          </a:p>
          <a:p>
            <a:pPr algn="ctr">
              <a:defRPr sz="850">
                <a:solidFill>
                  <a:srgbClr val="FFFFFF"/>
                </a:solidFill>
                <a:latin typeface="Aptos"/>
              </a:defRPr>
            </a:pPr>
            <a:r>
              <a:t>training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4600" y="1417320"/>
            <a:ext cx="1234440" cy="868680"/>
          </a:xfrm>
          <a:prstGeom prst="roundRect">
            <a:avLst/>
          </a:prstGeom>
          <a:solidFill>
            <a:srgbClr val="1879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28</a:t>
            </a:r>
          </a:p>
          <a:p>
            <a:pPr algn="ctr">
              <a:defRPr sz="850">
                <a:solidFill>
                  <a:srgbClr val="FFFFFF"/>
                </a:solidFill>
                <a:latin typeface="Aptos"/>
              </a:defRPr>
            </a:pPr>
            <a:r>
              <a:t>retrieval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417320"/>
            <a:ext cx="1554480" cy="86868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0</a:t>
            </a:r>
          </a:p>
          <a:p>
            <a:pPr algn="ctr">
              <a:defRPr sz="850">
                <a:solidFill>
                  <a:srgbClr val="FFFFFF"/>
                </a:solidFill>
                <a:latin typeface="Aptos"/>
              </a:defRPr>
            </a:pPr>
            <a:r>
              <a:t>pending evals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417320"/>
            <a:ext cx="1554480" cy="868680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Aptos Display"/>
              </a:defRPr>
            </a:pPr>
            <a:r>
              <a:t>11045911</a:t>
            </a:r>
          </a:p>
          <a:p>
            <a:pPr algn="ctr">
              <a:defRPr sz="850">
                <a:solidFill>
                  <a:srgbClr val="FFFFFF"/>
                </a:solidFill>
                <a:latin typeface="Aptos"/>
              </a:defRPr>
            </a:pPr>
            <a:r>
              <a:t>retry done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5074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1F31"/>
                </a:solidFill>
                <a:latin typeface="Aptos"/>
              </a:defRPr>
            </a:pPr>
            <a:r>
              <a:t>Final status as of May 7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22960" y="3246120"/>
          <a:ext cx="58521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51560"/>
                <a:gridCol w="3886200"/>
              </a:tblGrid>
              <a:tr h="377190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Job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21F31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11040135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3-class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training-strategy retrieval/fusion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11040134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8-class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last-2-block warmup/cosine completed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11045911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8-class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121F31"/>
                          </a:solidFill>
                          <a:latin typeface="Aptos"/>
                        </a:defRPr>
                      </a:pPr>
                      <a:r>
                        <a:t>GigaPath ablation retrieval tasks 8-11 completed as chunked retry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583680" y="2788920"/>
            <a:ext cx="44805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21F31"/>
                </a:solidFill>
                <a:latin typeface="Aptos"/>
              </a:defRPr>
            </a:pPr>
            <a:r>
              <a:t>Snapshot files:</a:t>
            </a:r>
            <a:br/>
            <a:r>
              <a:t>/nfs/roberts/project/pi_xy48/hw646/Medical-SAM3/results/visium_hd_exp1/summaries/latest_training_summary.csv</a:t>
            </a:r>
            <a:br/>
            <a:r>
              <a:t>/nfs/roberts/project/pi_xy48/hw646/Medical-SAM3/results/visium_hd_exp1/summaries/latest_retrieval_summary.csv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21F31"/>
                </a:solidFill>
                <a:latin typeface="Aptos"/>
              </a:defRPr>
            </a:pPr>
            <a:r>
              <a:t>Current readout: all queued retrieval evals are complete. Last-2 fine-tuning improves classification, fused retrieval, and concat probe; raw R@1 remains strongest for CE-only / last-1.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201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21F31"/>
                </a:solidFill>
                <a:latin typeface="Aptos Display"/>
              </a:defRPr>
            </a:pPr>
            <a:r>
              <a:t>Current interpretation and 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7899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  <a:latin typeface="Aptos"/>
              </a:defRPr>
            </a:pPr>
            <a:r>
              <a:t>The model direction is promising, but the loss design needs ablation before integration into SAM3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Aptos"/>
              </a:defRPr>
            </a:pPr>
            <a:r>
              <a:t>Haoran Wu | Group meeting | May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19456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50" b="1">
                <a:solidFill>
                  <a:srgbClr val="2563EB"/>
                </a:solidFill>
                <a:latin typeface="Aptos"/>
              </a:defRPr>
            </a:pPr>
            <a:r>
              <a:t>What is solid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173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F31"/>
                </a:solidFill>
                <a:latin typeface="Aptos"/>
              </a:defRPr>
            </a:pPr>
            <a:r>
              <a:t>GigaPath crop128 3-class is the most reliable line; CE-only currently has strongest raw R@1, while InfoNCE helps top-k/fusion.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14600"/>
            <a:ext cx="219456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50" b="1">
                <a:solidFill>
                  <a:srgbClr val="B45309"/>
                </a:solidFill>
                <a:latin typeface="Aptos"/>
              </a:defRPr>
            </a:pPr>
            <a:r>
              <a:t>What improved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5603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F31"/>
                </a:solidFill>
                <a:latin typeface="Aptos"/>
              </a:defRPr>
            </a:pPr>
            <a:r>
              <a:t>Haiku-inspired last-2-block fine-tuning raised 3-class macro-F1 to 0.694, image accuracy to 0.831, fused R@1 to 0.880, and concat probe to 0.866.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219456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87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50" b="1">
                <a:solidFill>
                  <a:srgbClr val="187971"/>
                </a:solidFill>
                <a:latin typeface="Aptos"/>
              </a:defRPr>
            </a:pPr>
            <a:r>
              <a:t>What 8-class says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7033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F31"/>
                </a:solidFill>
                <a:latin typeface="Aptos"/>
              </a:defRPr>
            </a:pPr>
            <a:r>
              <a:t>Last-2 warmup/cosine improved 8-class image accuracy to 0.708 and macro-F1 to 0.451, so fine-tuning helps but does not fully solve fine-label noise.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800600"/>
            <a:ext cx="2194560" cy="502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>
              <a:defRPr sz="1150" b="1">
                <a:solidFill>
                  <a:srgbClr val="166534"/>
                </a:solidFill>
                <a:latin typeface="Aptos"/>
              </a:defRPr>
            </a:pPr>
            <a:r>
              <a:t>Next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8463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21F31"/>
                </a:solidFill>
                <a:latin typeface="Aptos"/>
              </a:defRPr>
            </a:pPr>
            <a:r>
              <a:t>Use last-2 for fused/probe-style SAM3 region ranking; keep CE-only/last-1 as raw nearest-neighbor retrieval baselines.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